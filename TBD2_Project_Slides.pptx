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33"/>
    <p:restoredTop autoAdjust="0" sz="94711"/>
  </p:normalViewPr>
  <p:slideViewPr>
    <p:cSldViewPr snapToGrid="0" snapToObjects="1">
      <p:cViewPr varScale="1">
        <p:scale>
          <a:sx d="100" n="84"/>
          <a:sy d="100" n="84"/>
        </p:scale>
        <p:origin x="1278" y="60"/>
      </p:cViewPr>
      <p:guideLst>
        <p:guide orient="horz" pos="216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7" Type="http://schemas.openxmlformats.org/officeDocument/2006/relationships/viewProps" Target="viewProps.xml" /><Relationship Id="rId1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9" Type="http://schemas.openxmlformats.org/officeDocument/2006/relationships/tableStyles" Target="tableStyles.xml" /><Relationship Id="rId1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lvl="0" marL="0" indent="0">
              <a:buNone/>
            </a:pPr>
            <a:r>
              <a:rPr/>
              <a:t>Quantifying</a:t>
            </a:r>
            <a:r>
              <a:rPr/>
              <a:t> </a:t>
            </a:r>
            <a:r>
              <a:rPr/>
              <a:t>Climate</a:t>
            </a:r>
            <a:r>
              <a:rPr/>
              <a:t> </a:t>
            </a:r>
            <a:r>
              <a:rPr/>
              <a:t>Vegetation</a:t>
            </a:r>
            <a:r>
              <a:rPr/>
              <a:t> </a:t>
            </a:r>
            <a:r>
              <a:rPr/>
              <a:t>Lags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pPr lvl="0" marL="0" indent="0">
              <a:buNone/>
            </a:pPr>
            <a:r>
              <a:rPr/>
              <a:t>Team</a:t>
            </a:r>
            <a:r>
              <a:rPr/>
              <a:t> </a:t>
            </a:r>
            <a:r>
              <a:rPr/>
              <a:t>TBD2</a:t>
            </a:r>
            <a:r>
              <a:rPr/>
              <a:t> </a:t>
            </a:r>
            <a:r>
              <a:rPr/>
              <a:t>Project</a:t>
            </a:r>
            <a:r>
              <a:rPr/>
              <a:t> </a:t>
            </a:r>
            <a:r>
              <a:rPr/>
              <a:t>25</a:t>
            </a:r>
            <a:br/>
            <a:br/>
            <a:r>
              <a:rPr/>
              <a:t>Vivek</a:t>
            </a:r>
            <a:r>
              <a:rPr/>
              <a:t> </a:t>
            </a:r>
            <a:r>
              <a:rPr/>
              <a:t>R,</a:t>
            </a:r>
            <a:r>
              <a:rPr/>
              <a:t> </a:t>
            </a:r>
            <a:r>
              <a:rPr/>
              <a:t>Nandan</a:t>
            </a:r>
            <a:r>
              <a:rPr/>
              <a:t> </a:t>
            </a:r>
            <a:r>
              <a:rPr/>
              <a:t>Rajesh</a:t>
            </a:r>
            <a:r>
              <a:rPr/>
              <a:t> </a:t>
            </a:r>
            <a:r>
              <a:rPr/>
              <a:t>Kamat,</a:t>
            </a:r>
            <a:r>
              <a:rPr/>
              <a:t> </a:t>
            </a:r>
            <a:r>
              <a:rPr/>
              <a:t>Shaurya</a:t>
            </a:r>
            <a:r>
              <a:rPr/>
              <a:t> </a:t>
            </a:r>
            <a:r>
              <a:rPr/>
              <a:t>Gupta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Research</a:t>
            </a:r>
            <a:r>
              <a:rPr/>
              <a:t> </a:t>
            </a:r>
            <a:r>
              <a:rPr/>
              <a:t>gap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Studies show forest communities lag climate change, but our question is quantitative:</a:t>
            </a:r>
          </a:p>
          <a:p>
            <a:pPr lvl="1"/>
            <a:r>
              <a:rPr/>
              <a:t>How many centuries does each tree genus lag temperature?</a:t>
            </a:r>
          </a:p>
          <a:p>
            <a:pPr lvl="1"/>
            <a:r>
              <a:rPr/>
              <a:t>Do unusual communities line up with fast climate change?</a:t>
            </a:r>
          </a:p>
          <a:p>
            <a:pPr lvl="1"/>
            <a:r>
              <a:rPr/>
              <a:t>Were past migration rates fast enough to match moving climate zones?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Data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pipeline</a:t>
            </a:r>
          </a:p>
        </p:txBody>
      </p:sp>
      <p:pic>
        <p:nvPicPr>
          <p:cNvPr descr="data/outputs/figures/fig1_site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62100" y="1600200"/>
            <a:ext cx="6019800" cy="4013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56134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marL="0" indent="0" algn="ctr">
              <a:buNone/>
            </a:pPr>
            <a:r>
              <a:rPr/>
              <a:t>Study</a:t>
            </a:r>
            <a:r>
              <a:rPr/>
              <a:t> </a:t>
            </a:r>
            <a:r>
              <a:rPr/>
              <a:t>sites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Neotoma fossil pollen: 423 cached datasets</a:t>
            </a:r>
          </a:p>
          <a:p>
            <a:pPr lvl="1"/>
            <a:r>
              <a:rPr/>
              <a:t>Filtered fossil analysis: 72 sites and 1782 binned samples</a:t>
            </a:r>
          </a:p>
          <a:p>
            <a:pPr lvl="1"/>
            <a:r>
              <a:rPr/>
              <a:t>TraCE-21ka TREFHT temperatures matched to each site</a:t>
            </a:r>
          </a:p>
          <a:p>
            <a:pPr lvl="1"/>
            <a:r>
              <a:rPr/>
              <a:t>500-year bins from 14.75 ka BP to 0.25 ka BP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Genus</a:t>
            </a:r>
            <a:r>
              <a:rPr/>
              <a:t> </a:t>
            </a:r>
            <a:r>
              <a:rPr/>
              <a:t>lags</a:t>
            </a:r>
            <a:r>
              <a:rPr/>
              <a:t> </a:t>
            </a:r>
            <a:r>
              <a:rPr/>
              <a:t>differ</a:t>
            </a:r>
          </a:p>
        </p:txBody>
      </p:sp>
      <p:pic>
        <p:nvPicPr>
          <p:cNvPr descr="data/outputs/figures/fig3_lag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308100" y="1600200"/>
            <a:ext cx="6527800" cy="4013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56134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marL="0" indent="0" algn="ctr">
              <a:buNone/>
            </a:pPr>
            <a:r>
              <a:rPr/>
              <a:t>Lag</a:t>
            </a:r>
            <a:r>
              <a:rPr/>
              <a:t> </a:t>
            </a:r>
            <a:r>
              <a:rPr/>
              <a:t>chart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Kruskal-Wallis p = 1.66e-08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Main</a:t>
            </a:r>
            <a:r>
              <a:rPr/>
              <a:t> </a:t>
            </a:r>
            <a:r>
              <a:rPr/>
              <a:t>lag</a:t>
            </a:r>
            <a:r>
              <a:rPr/>
              <a:t> </a:t>
            </a:r>
            <a:r>
              <a:rPr/>
              <a:t>result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Shortest median lags:</a:t>
            </a:r>
          </a:p>
          <a:p>
            <a:pPr lvl="1"/>
            <a:r>
              <a:rPr/>
              <a:t>Picea, Tsuga: 500 years</a:t>
            </a:r>
          </a:p>
          <a:p>
            <a:pPr lvl="0" marL="0" indent="0">
              <a:buNone/>
            </a:pPr>
            <a:r>
              <a:rPr/>
              <a:t>Longer median lags:</a:t>
            </a:r>
          </a:p>
          <a:p>
            <a:pPr lvl="1"/>
            <a:r>
              <a:rPr/>
              <a:t>Pinus, Carya, Fagus: 2250 to 3000 years</a:t>
            </a:r>
          </a:p>
          <a:p>
            <a:pPr lvl="0" marL="0" indent="0">
              <a:buNone/>
            </a:pPr>
            <a:r>
              <a:rPr/>
              <a:t>Interpretation: tree genera did not track temperature as a single moving forest unit.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Rates</a:t>
            </a:r>
            <a:r>
              <a:rPr/>
              <a:t> </a:t>
            </a:r>
            <a:r>
              <a:rPr/>
              <a:t>through</a:t>
            </a:r>
            <a:r>
              <a:rPr/>
              <a:t> </a:t>
            </a:r>
            <a:r>
              <a:rPr/>
              <a:t>time</a:t>
            </a:r>
          </a:p>
        </p:txBody>
      </p:sp>
      <p:pic>
        <p:nvPicPr>
          <p:cNvPr descr="data/outputs/figures/fig2_rate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765300" y="1600200"/>
            <a:ext cx="5613400" cy="4013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56134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marL="0" indent="0" algn="ctr">
              <a:buNone/>
            </a:pPr>
            <a:r>
              <a:rPr/>
              <a:t>Rates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Median absolute climate rate: 0.034 deg C per century</a:t>
            </a:r>
          </a:p>
          <a:p>
            <a:pPr lvl="0" marL="0" indent="0">
              <a:buNone/>
            </a:pPr>
            <a:r>
              <a:rPr/>
              <a:t>Median vegetation turnover: 0.025 Hellinger units per century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Migration</a:t>
            </a:r>
            <a:r>
              <a:rPr/>
              <a:t> </a:t>
            </a:r>
            <a:r>
              <a:rPr/>
              <a:t>versus</a:t>
            </a:r>
            <a:r>
              <a:rPr/>
              <a:t> </a:t>
            </a:r>
            <a:r>
              <a:rPr/>
              <a:t>climate</a:t>
            </a:r>
            <a:r>
              <a:rPr/>
              <a:t> </a:t>
            </a:r>
            <a:r>
              <a:rPr/>
              <a:t>velocity</a:t>
            </a:r>
          </a:p>
        </p:txBody>
      </p:sp>
      <p:pic>
        <p:nvPicPr>
          <p:cNvPr descr="data/outputs/figures/fig5_migrati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308100" y="1600200"/>
            <a:ext cx="6527800" cy="4013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56134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marL="0" indent="0" algn="ctr">
              <a:buNone/>
            </a:pPr>
            <a:r>
              <a:rPr/>
              <a:t>Migration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Median inferred migration: 164.7 m/yr</a:t>
            </a:r>
          </a:p>
          <a:p>
            <a:pPr lvl="1"/>
            <a:r>
              <a:rPr/>
              <a:t>Past 95th percentile climate velocity: 331.8 m/yr</a:t>
            </a:r>
          </a:p>
          <a:p>
            <a:pPr lvl="1"/>
            <a:r>
              <a:rPr/>
              <a:t>Modern climate velocity at 1.9 deg C per century: 1572 m/yr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No-analogue</a:t>
            </a:r>
            <a:r>
              <a:rPr/>
              <a:t> </a:t>
            </a:r>
            <a:r>
              <a:rPr/>
              <a:t>communities</a:t>
            </a:r>
          </a:p>
        </p:txBody>
      </p:sp>
      <p:pic>
        <p:nvPicPr>
          <p:cNvPr descr="data/outputs/figures/fig4_noanalogu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73100" y="1600200"/>
            <a:ext cx="7797800" cy="4013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56134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marL="0" indent="0" algn="ctr">
              <a:buNone/>
            </a:pPr>
            <a:r>
              <a:rPr/>
              <a:t>No</a:t>
            </a:r>
            <a:r>
              <a:rPr/>
              <a:t> </a:t>
            </a:r>
            <a:r>
              <a:rPr/>
              <a:t>analogue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Threshold: 0.066 squared chord distance</a:t>
            </a:r>
          </a:p>
          <a:p>
            <a:pPr lvl="1"/>
            <a:r>
              <a:rPr/>
              <a:t>Modern reference samples: 644</a:t>
            </a:r>
          </a:p>
          <a:p>
            <a:pPr lvl="1"/>
            <a:r>
              <a:rPr/>
              <a:t>Flagged fossil samples: 59.9 percent</a:t>
            </a:r>
          </a:p>
          <a:p>
            <a:pPr lvl="1"/>
            <a:r>
              <a:rPr/>
              <a:t>Spearman rho with climate rate: 0.66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The real-data pipeline supports two core claims.</a:t>
            </a:r>
          </a:p>
          <a:p>
            <a:pPr lvl="1"/>
            <a:r>
              <a:rPr/>
              <a:t>Tree genera had different lag times, from about 500 to 3000 years.</a:t>
            </a:r>
          </a:p>
          <a:p>
            <a:pPr lvl="1"/>
            <a:r>
              <a:rPr/>
              <a:t>No-analogue frequency rose during faster climate and vegetation change.</a:t>
            </a:r>
          </a:p>
          <a:p>
            <a:pPr lvl="1"/>
            <a:r>
              <a:rPr/>
              <a:t>Modern climate velocity is about 9.5 times the median inferred migration rate.</a:t>
            </a:r>
          </a:p>
          <a:p>
            <a:pPr lvl="0" marL="0" indent="0">
              <a:buNone/>
            </a:pPr>
            <a:r>
              <a:rPr/>
              <a:t>The modern reference set now contains 644 filtered surface samples, but the API should still be rerun if Neotoma becomes stable.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Office PowerPoint</Application>
  <PresentationFormat>On-screen Show (4:3)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Quantifying Climate Vegetation Lags</dc:title>
  <dc:creator>Vivek R, Nandan Rajesh Kamat, Shaurya Gupta</dc:creator>
  <cp:keywords/>
  <dcterms:created xsi:type="dcterms:W3CDTF">2026-10-07T01:04:21Z</dcterms:created>
  <dcterms:modified xsi:type="dcterms:W3CDTF">2026-10-07T01:04:21Z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ubtitle">
    <vt:lpwstr>Team TBD2 Project 25</vt:lpwstr>
  </property>
</Properties>
</file>